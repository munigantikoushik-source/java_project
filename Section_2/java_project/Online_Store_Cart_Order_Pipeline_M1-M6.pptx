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11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57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14630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22402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" y="301752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" y="379476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" y="45720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53492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" y="61264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256032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900" b="1">
                <a:solidFill>
                  <a:srgbClr val="B4BED0"/>
                </a:solidFill>
                <a:latin typeface="Aptos"/>
              </a:rPr>
              <a:t>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1005840"/>
            <a:ext cx="3794760" cy="5074920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89720" y="1508760"/>
            <a:ext cx="2651760" cy="2651760"/>
          </a:xfrm>
          <a:prstGeom prst="ellipse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582912" y="1901952"/>
            <a:ext cx="1874519" cy="1874519"/>
          </a:xfrm>
          <a:prstGeom prst="ellipse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9034272" y="2395728"/>
            <a:ext cx="222199" cy="86410"/>
          </a:xfrm>
          <a:prstGeom prst="line">
            <a:avLst/>
          </a:prstGeom>
          <a:ln w="31750">
            <a:solidFill>
              <a:srgbClr val="FAF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56471" y="2482138"/>
            <a:ext cx="271577" cy="592532"/>
          </a:xfrm>
          <a:prstGeom prst="line">
            <a:avLst/>
          </a:prstGeom>
          <a:ln w="31750">
            <a:solidFill>
              <a:srgbClr val="FAF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28048" y="3074670"/>
            <a:ext cx="765352" cy="0"/>
          </a:xfrm>
          <a:prstGeom prst="line">
            <a:avLst/>
          </a:prstGeom>
          <a:ln w="31750">
            <a:solidFill>
              <a:srgbClr val="FAF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293400" y="2617927"/>
            <a:ext cx="172822" cy="456743"/>
          </a:xfrm>
          <a:prstGeom prst="line">
            <a:avLst/>
          </a:prstGeom>
          <a:ln w="31750">
            <a:solidFill>
              <a:srgbClr val="FAF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404604" y="2617927"/>
            <a:ext cx="1061618" cy="0"/>
          </a:xfrm>
          <a:prstGeom prst="line">
            <a:avLst/>
          </a:prstGeom>
          <a:ln w="31750">
            <a:solidFill>
              <a:srgbClr val="FAF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614458" y="3210458"/>
            <a:ext cx="160477" cy="160477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194645" y="3210458"/>
            <a:ext cx="160477" cy="160477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183879" y="4343400"/>
            <a:ext cx="781812" cy="608075"/>
          </a:xfrm>
          <a:prstGeom prst="round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262061" y="4438954"/>
            <a:ext cx="625449" cy="41696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8348929" y="4586630"/>
            <a:ext cx="443026" cy="0"/>
          </a:xfrm>
          <a:prstGeom prst="line">
            <a:avLst/>
          </a:prstGeom>
          <a:ln w="19050">
            <a:solidFill>
              <a:srgbClr val="F7B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48929" y="4716932"/>
            <a:ext cx="338785" cy="0"/>
          </a:xfrm>
          <a:prstGeom prst="line">
            <a:avLst/>
          </a:prstGeom>
          <a:ln w="19050">
            <a:solidFill>
              <a:srgbClr val="F7B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464040" y="3977639"/>
            <a:ext cx="781812" cy="608075"/>
          </a:xfrm>
          <a:prstGeom prst="round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542221" y="4073194"/>
            <a:ext cx="625449" cy="41696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9629089" y="4220870"/>
            <a:ext cx="443026" cy="0"/>
          </a:xfrm>
          <a:prstGeom prst="line">
            <a:avLst/>
          </a:prstGeom>
          <a:ln w="190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29089" y="4351172"/>
            <a:ext cx="338785" cy="0"/>
          </a:xfrm>
          <a:prstGeom prst="line">
            <a:avLst/>
          </a:prstGeom>
          <a:ln w="190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104120" y="4617720"/>
            <a:ext cx="617220" cy="480059"/>
          </a:xfrm>
          <a:prstGeom prst="roundRect">
            <a:avLst/>
          </a:prstGeom>
          <a:solidFill>
            <a:srgbClr val="43D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165842" y="4693157"/>
            <a:ext cx="493776" cy="329184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10234422" y="4809744"/>
            <a:ext cx="349758" cy="0"/>
          </a:xfrm>
          <a:prstGeom prst="line">
            <a:avLst/>
          </a:prstGeom>
          <a:ln w="19050">
            <a:solidFill>
              <a:srgbClr val="43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234422" y="4912614"/>
            <a:ext cx="267462" cy="0"/>
          </a:xfrm>
          <a:prstGeom prst="line">
            <a:avLst/>
          </a:prstGeom>
          <a:ln w="19050">
            <a:solidFill>
              <a:srgbClr val="43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89204" y="1417320"/>
            <a:ext cx="63093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600" b="1" dirty="0">
                <a:solidFill>
                  <a:srgbClr val="FF5260"/>
                </a:solidFill>
                <a:latin typeface="Aptos"/>
              </a:rPr>
              <a:t>CAPSTONE PROJECT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" y="1922525"/>
            <a:ext cx="658368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4200" b="1" dirty="0">
                <a:solidFill>
                  <a:srgbClr val="FAFCFF"/>
                </a:solidFill>
                <a:latin typeface="Aptos"/>
              </a:rPr>
              <a:t>ONLINE STORE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2450592"/>
            <a:ext cx="667512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3700" b="1">
                <a:solidFill>
                  <a:srgbClr val="F7BE46"/>
                </a:solidFill>
                <a:latin typeface="Aptos"/>
              </a:rPr>
              <a:t>CART &amp; ORDER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3319272"/>
            <a:ext cx="61264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endParaRPr sz="1700" b="0" dirty="0">
              <a:solidFill>
                <a:srgbClr val="B4BED0"/>
              </a:solidFill>
              <a:latin typeface="Apto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24975" y="4233672"/>
            <a:ext cx="6119617" cy="1566672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2" y="4434840"/>
            <a:ext cx="7315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2000" b="1" dirty="0">
                <a:solidFill>
                  <a:srgbClr val="FF5260"/>
                </a:solidFill>
                <a:latin typeface="Aptos"/>
              </a:rPr>
              <a:t>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" y="4718304"/>
            <a:ext cx="521208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defRPr sz="1000">
                <a:solidFill>
                  <a:srgbClr val="EBEEF5"/>
                </a:solidFill>
              </a:defRPr>
            </a:pPr>
            <a:r>
              <a:rPr sz="2000" dirty="0"/>
              <a:t>2620030239_</a:t>
            </a:r>
            <a:r>
              <a:rPr lang="en-IN" sz="2000" dirty="0"/>
              <a:t>Sai B</a:t>
            </a:r>
            <a:r>
              <a:rPr sz="2000" dirty="0" err="1"/>
              <a:t>huvana</a:t>
            </a:r>
            <a:r>
              <a:rPr sz="2000" dirty="0"/>
              <a:t> </a:t>
            </a:r>
            <a:r>
              <a:rPr lang="en-IN" sz="2000" dirty="0"/>
              <a:t>K</a:t>
            </a:r>
            <a:r>
              <a:rPr sz="2000" dirty="0" err="1"/>
              <a:t>rishna</a:t>
            </a:r>
            <a:r>
              <a:rPr sz="2000" dirty="0"/>
              <a:t>      2620030440_</a:t>
            </a:r>
            <a:r>
              <a:rPr lang="en-IN" sz="2000" dirty="0"/>
              <a:t>K</a:t>
            </a:r>
            <a:r>
              <a:rPr sz="2000" dirty="0" err="1"/>
              <a:t>oushik</a:t>
            </a:r>
            <a:endParaRPr sz="2000" dirty="0"/>
          </a:p>
        </p:txBody>
      </p:sp>
      <p:sp>
        <p:nvSpPr>
          <p:cNvPr id="59" name="TextBox 58"/>
          <p:cNvSpPr txBox="1"/>
          <p:nvPr/>
        </p:nvSpPr>
        <p:spPr>
          <a:xfrm>
            <a:off x="891539" y="5390388"/>
            <a:ext cx="1485897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b="1" dirty="0">
                <a:solidFill>
                  <a:srgbClr val="B4BED0"/>
                </a:solidFill>
                <a:latin typeface="Aptos"/>
              </a:rPr>
              <a:t>Section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9597" y="6083809"/>
            <a:ext cx="66751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endParaRPr sz="900" b="1" dirty="0">
              <a:solidFill>
                <a:srgbClr val="B4BED0"/>
              </a:solidFill>
              <a:latin typeface="Aptos"/>
            </a:endParaRPr>
          </a:p>
        </p:txBody>
      </p:sp>
      <p:pic>
        <p:nvPicPr>
          <p:cNvPr id="61" name="Picture 60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491" y="24822"/>
            <a:ext cx="1325880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57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14630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22402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" y="301752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" y="379476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" y="45720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53492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" y="61264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256032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900" b="1">
                <a:solidFill>
                  <a:srgbClr val="B4BED0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551565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3600" b="1" dirty="0">
                <a:solidFill>
                  <a:srgbClr val="FF5260"/>
                </a:solidFill>
                <a:latin typeface="Aptos"/>
              </a:rPr>
              <a:t>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" y="1442466"/>
            <a:ext cx="667512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3000" b="1" dirty="0">
                <a:solidFill>
                  <a:srgbClr val="FAFCFF"/>
                </a:solidFill>
                <a:latin typeface="Aptos"/>
              </a:rPr>
              <a:t>From browsing to delivery.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1901952"/>
            <a:ext cx="64008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0">
                <a:solidFill>
                  <a:srgbClr val="B4BED0"/>
                </a:solidFill>
                <a:latin typeface="Aptos"/>
              </a:rPr>
              <a:t>The system models the core journey of an online shopper.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2450592"/>
            <a:ext cx="3977639" cy="658368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6384" y="2606040"/>
            <a:ext cx="329184" cy="329184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2642616"/>
            <a:ext cx="329184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551176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1" dirty="0">
                <a:solidFill>
                  <a:srgbClr val="43D3FF"/>
                </a:solidFill>
                <a:latin typeface="Aptos"/>
              </a:rPr>
              <a:t>BROWSE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2542032"/>
            <a:ext cx="199339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View available products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3291840"/>
            <a:ext cx="3977639" cy="658368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86384" y="3447288"/>
            <a:ext cx="329184" cy="329184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3483864"/>
            <a:ext cx="329184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3392424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1" dirty="0">
                <a:solidFill>
                  <a:srgbClr val="F7BE46"/>
                </a:solidFill>
                <a:latin typeface="Aptos"/>
              </a:rPr>
              <a:t>CART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3383280"/>
            <a:ext cx="199339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Add items &amp; change quantities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4133088"/>
            <a:ext cx="3977639" cy="658368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Oval 43"/>
          <p:cNvSpPr/>
          <p:nvPr/>
        </p:nvSpPr>
        <p:spPr>
          <a:xfrm>
            <a:off x="786384" y="4288536"/>
            <a:ext cx="329184" cy="329184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" y="4325112"/>
            <a:ext cx="329184" cy="14630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1581" y="4292745"/>
            <a:ext cx="1078992" cy="13715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/>
            <a:r>
              <a:rPr sz="1400" b="1" dirty="0">
                <a:solidFill>
                  <a:srgbClr val="FF5260"/>
                </a:solidFill>
                <a:latin typeface="Aptos"/>
              </a:rPr>
              <a:t>CHECKOUT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16932" y="4293108"/>
            <a:ext cx="1993392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00" b="0" dirty="0">
                <a:solidFill>
                  <a:srgbClr val="FAFCFF"/>
                </a:solidFill>
                <a:latin typeface="Aptos"/>
              </a:rPr>
              <a:t>Calculate total &amp; place order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5285" y="1211580"/>
            <a:ext cx="6446520" cy="5166360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13248" y="1627632"/>
            <a:ext cx="21945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1" dirty="0">
                <a:solidFill>
                  <a:srgbClr val="FF5260"/>
                </a:solidFill>
                <a:latin typeface="Aptos"/>
              </a:rPr>
              <a:t>ORDER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3248" y="1938528"/>
            <a:ext cx="5212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FAFCFF"/>
                </a:solidFill>
                <a:latin typeface="Aptos"/>
              </a:rPr>
              <a:t>Every order moves through a defined state.</a:t>
            </a:r>
          </a:p>
        </p:txBody>
      </p:sp>
      <p:sp>
        <p:nvSpPr>
          <p:cNvPr id="51" name="Oval 50"/>
          <p:cNvSpPr/>
          <p:nvPr/>
        </p:nvSpPr>
        <p:spPr>
          <a:xfrm>
            <a:off x="5440680" y="2880360"/>
            <a:ext cx="694944" cy="694944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40680" y="3090672"/>
            <a:ext cx="694944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3749039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50" b="1">
                <a:solidFill>
                  <a:srgbClr val="FAFCFF"/>
                </a:solidFill>
                <a:latin typeface="Aptos"/>
              </a:rPr>
              <a:t>PLACED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1928" y="2990088"/>
            <a:ext cx="475488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800" b="1">
                <a:solidFill>
                  <a:srgbClr val="B4BED0"/>
                </a:solidFill>
                <a:latin typeface="Aptos"/>
              </a:rPr>
              <a:t>›</a:t>
            </a:r>
          </a:p>
        </p:txBody>
      </p:sp>
      <p:sp>
        <p:nvSpPr>
          <p:cNvPr id="55" name="Oval 54"/>
          <p:cNvSpPr/>
          <p:nvPr/>
        </p:nvSpPr>
        <p:spPr>
          <a:xfrm>
            <a:off x="6903720" y="2880360"/>
            <a:ext cx="694944" cy="694944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03720" y="3090672"/>
            <a:ext cx="694944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3749039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50" b="1">
                <a:solidFill>
                  <a:srgbClr val="FAFCFF"/>
                </a:solidFill>
                <a:latin typeface="Aptos"/>
              </a:rPr>
              <a:t>PROCESSING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4968" y="2990088"/>
            <a:ext cx="475488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800" b="1">
                <a:solidFill>
                  <a:srgbClr val="B4BED0"/>
                </a:solidFill>
                <a:latin typeface="Aptos"/>
              </a:rPr>
              <a:t>›</a:t>
            </a:r>
          </a:p>
        </p:txBody>
      </p:sp>
      <p:sp>
        <p:nvSpPr>
          <p:cNvPr id="59" name="Oval 58"/>
          <p:cNvSpPr/>
          <p:nvPr/>
        </p:nvSpPr>
        <p:spPr>
          <a:xfrm>
            <a:off x="8366760" y="2880360"/>
            <a:ext cx="694944" cy="694944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66760" y="3090672"/>
            <a:ext cx="694944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3749039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50" b="1">
                <a:solidFill>
                  <a:srgbClr val="FAFCFF"/>
                </a:solidFill>
                <a:latin typeface="Aptos"/>
              </a:rPr>
              <a:t>SHIPPED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08008" y="2990088"/>
            <a:ext cx="475488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800" b="1">
                <a:solidFill>
                  <a:srgbClr val="B4BED0"/>
                </a:solidFill>
                <a:latin typeface="Aptos"/>
              </a:rPr>
              <a:t>›</a:t>
            </a:r>
          </a:p>
        </p:txBody>
      </p:sp>
      <p:sp>
        <p:nvSpPr>
          <p:cNvPr id="63" name="Oval 62"/>
          <p:cNvSpPr/>
          <p:nvPr/>
        </p:nvSpPr>
        <p:spPr>
          <a:xfrm>
            <a:off x="9829800" y="2880360"/>
            <a:ext cx="694944" cy="694944"/>
          </a:xfrm>
          <a:prstGeom prst="ellipse">
            <a:avLst/>
          </a:prstGeom>
          <a:solidFill>
            <a:srgbClr val="43D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29800" y="3090672"/>
            <a:ext cx="694944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800" b="1">
                <a:solidFill>
                  <a:srgbClr val="070B17"/>
                </a:solidFill>
                <a:latin typeface="Aptos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3749039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50" b="1">
                <a:solidFill>
                  <a:srgbClr val="FAFCFF"/>
                </a:solidFill>
                <a:latin typeface="Aptos"/>
              </a:rPr>
              <a:t>DELIVERED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69280" y="4736592"/>
            <a:ext cx="118506" cy="46085"/>
          </a:xfrm>
          <a:prstGeom prst="line">
            <a:avLst/>
          </a:prstGeom>
          <a:ln w="317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87786" y="4782677"/>
            <a:ext cx="144841" cy="316017"/>
          </a:xfrm>
          <a:prstGeom prst="line">
            <a:avLst/>
          </a:prstGeom>
          <a:ln w="317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932627" y="5098694"/>
            <a:ext cx="408188" cy="0"/>
          </a:xfrm>
          <a:prstGeom prst="line">
            <a:avLst/>
          </a:prstGeom>
          <a:ln w="317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815" y="4855098"/>
            <a:ext cx="92171" cy="243596"/>
          </a:xfrm>
          <a:prstGeom prst="line">
            <a:avLst/>
          </a:prstGeom>
          <a:ln w="317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866790" y="4855098"/>
            <a:ext cx="566196" cy="0"/>
          </a:xfrm>
          <a:prstGeom prst="line">
            <a:avLst/>
          </a:prstGeom>
          <a:ln w="3175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978712" y="5171114"/>
            <a:ext cx="85587" cy="85587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288145" y="5171114"/>
            <a:ext cx="85587" cy="85587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83680" y="4800600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000" b="1">
                <a:solidFill>
                  <a:srgbClr val="B4BED0"/>
                </a:solidFill>
                <a:latin typeface="Aptos"/>
              </a:rPr>
              <a:t>Products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4800600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000" b="1">
                <a:solidFill>
                  <a:srgbClr val="B4BED0"/>
                </a:solidFill>
                <a:latin typeface="Aptos"/>
              </a:rPr>
              <a:t>Cart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82912" y="4800600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000" b="1">
                <a:solidFill>
                  <a:srgbClr val="B4BED0"/>
                </a:solidFill>
                <a:latin typeface="Aptos"/>
              </a:rPr>
              <a:t>Order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17352" y="4800600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000" b="1">
                <a:solidFill>
                  <a:srgbClr val="B4BED0"/>
                </a:solidFill>
                <a:latin typeface="Aptos"/>
              </a:rPr>
              <a:t>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16952" y="4690872"/>
            <a:ext cx="457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400" b="1">
                <a:solidFill>
                  <a:srgbClr val="DC2636"/>
                </a:solidFill>
                <a:latin typeface="Aptos"/>
              </a:rPr>
              <a:t>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42832" y="4690872"/>
            <a:ext cx="457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400" b="1">
                <a:solidFill>
                  <a:srgbClr val="DC2636"/>
                </a:solidFill>
                <a:latin typeface="Aptos"/>
              </a:rPr>
              <a:t>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4690872"/>
            <a:ext cx="457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400" b="1">
                <a:solidFill>
                  <a:srgbClr val="DC2636"/>
                </a:solidFill>
                <a:latin typeface="Aptos"/>
              </a:rPr>
              <a:t>›</a:t>
            </a:r>
          </a:p>
        </p:txBody>
      </p:sp>
      <p:pic>
        <p:nvPicPr>
          <p:cNvPr id="80" name="Picture 79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05156"/>
            <a:ext cx="1325880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57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14630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22402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" y="301752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" y="379476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" y="45720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53492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" y="61264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256032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900" b="1">
                <a:solidFill>
                  <a:srgbClr val="B4BED0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8" y="818388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25000" lnSpcReduction="20000"/>
          </a:bodyPr>
          <a:lstStyle/>
          <a:p>
            <a:pPr algn="l"/>
            <a:r>
              <a:rPr sz="1100" b="1" dirty="0">
                <a:solidFill>
                  <a:srgbClr val="FF5260"/>
                </a:solidFill>
                <a:latin typeface="Aptos"/>
              </a:rPr>
              <a:t> </a:t>
            </a:r>
            <a:r>
              <a:rPr sz="11200" b="1" dirty="0">
                <a:solidFill>
                  <a:srgbClr val="FF5260"/>
                </a:solidFill>
                <a:latin typeface="Aptos"/>
              </a:rPr>
              <a:t>ABSTRACT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1389888"/>
            <a:ext cx="8961120" cy="5120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900" b="1">
                <a:solidFill>
                  <a:srgbClr val="FAFCFF"/>
                </a:solidFill>
                <a:latin typeface="Aptos"/>
              </a:rPr>
              <a:t>A compact model of e-commerce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901952"/>
            <a:ext cx="8229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0">
                <a:solidFill>
                  <a:srgbClr val="B4BED0"/>
                </a:solidFill>
                <a:latin typeface="Aptos"/>
              </a:rPr>
              <a:t>The project connects products, carts, pricing and order states in one workflow.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2148840"/>
            <a:ext cx="7543800" cy="3429000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2487168"/>
            <a:ext cx="6903720" cy="2697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just">
              <a:spcAft>
                <a:spcPts val="1000"/>
              </a:spcAft>
            </a:pPr>
            <a:r>
              <a:rPr sz="1550" b="0" dirty="0">
                <a:solidFill>
                  <a:srgbClr val="FAFCFF"/>
                </a:solidFill>
                <a:latin typeface="Aptos"/>
              </a:rPr>
              <a:t>The Online Store Cart &amp; Order Pipeline is a mini-project that simulates the basic process of an e-commerce system. It allows users to browse products, add items to a cart, update quantities, and place orders.</a:t>
            </a:r>
          </a:p>
          <a:p>
            <a:pPr algn="just">
              <a:spcAft>
                <a:spcPts val="0"/>
              </a:spcAft>
            </a:pPr>
            <a:r>
              <a:rPr sz="1550" b="0" dirty="0">
                <a:solidFill>
                  <a:srgbClr val="FAFCFF"/>
                </a:solidFill>
                <a:latin typeface="Aptos"/>
              </a:rPr>
              <a:t>The system calculates the total price and manages the order through different stages, from placement to delivery. The project demonstrates object-oriented programming, data management, and order processing in a simple, organized workflow.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2148840"/>
            <a:ext cx="2971800" cy="3429000"/>
          </a:xfrm>
          <a:prstGeom prst="roundRect">
            <a:avLst/>
          </a:prstGeom>
          <a:solidFill>
            <a:srgbClr val="16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87968" y="2450592"/>
            <a:ext cx="13716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000" b="1">
                <a:solidFill>
                  <a:srgbClr val="FF5260"/>
                </a:solidFill>
                <a:latin typeface="Aptos"/>
              </a:rPr>
              <a:t>CORE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87968" y="2907792"/>
            <a:ext cx="2240280" cy="402336"/>
          </a:xfrm>
          <a:prstGeom prst="roundRect">
            <a:avLst/>
          </a:prstGeom>
          <a:solidFill>
            <a:srgbClr val="070B17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87968" y="2999232"/>
            <a:ext cx="22402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00" b="1">
                <a:solidFill>
                  <a:srgbClr val="43D3FF"/>
                </a:solidFill>
                <a:latin typeface="Aptos"/>
              </a:rPr>
              <a:t>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3282696"/>
            <a:ext cx="228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300" b="1">
                <a:solidFill>
                  <a:srgbClr val="B4BED0"/>
                </a:solidFill>
                <a:latin typeface="Aptos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87968" y="3474720"/>
            <a:ext cx="2240280" cy="402336"/>
          </a:xfrm>
          <a:prstGeom prst="roundRect">
            <a:avLst/>
          </a:prstGeom>
          <a:solidFill>
            <a:srgbClr val="070B17"/>
          </a:solidFill>
          <a:ln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87968" y="3566160"/>
            <a:ext cx="22402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00" b="1">
                <a:solidFill>
                  <a:srgbClr val="F7BE46"/>
                </a:solidFill>
                <a:latin typeface="Aptos"/>
              </a:rPr>
              <a:t>CART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93808" y="3849624"/>
            <a:ext cx="228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300" b="1">
                <a:solidFill>
                  <a:srgbClr val="B4BED0"/>
                </a:solidFill>
                <a:latin typeface="Aptos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87968" y="4041648"/>
            <a:ext cx="2240280" cy="402336"/>
          </a:xfrm>
          <a:prstGeom prst="roundRect">
            <a:avLst/>
          </a:prstGeom>
          <a:solidFill>
            <a:srgbClr val="070B17"/>
          </a:solidFill>
          <a:ln>
            <a:solidFill>
              <a:srgbClr val="FF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87968" y="4133087"/>
            <a:ext cx="22402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00" b="1">
                <a:solidFill>
                  <a:srgbClr val="FF5260"/>
                </a:solidFill>
                <a:latin typeface="Aptos"/>
              </a:rPr>
              <a:t>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4416552"/>
            <a:ext cx="228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300" b="1">
                <a:solidFill>
                  <a:srgbClr val="B4BED0"/>
                </a:solidFill>
                <a:latin typeface="Aptos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4608576"/>
            <a:ext cx="2240280" cy="402336"/>
          </a:xfrm>
          <a:prstGeom prst="roundRect">
            <a:avLst/>
          </a:prstGeom>
          <a:solidFill>
            <a:srgbClr val="070B17"/>
          </a:solidFill>
          <a:ln>
            <a:solidFill>
              <a:srgbClr val="43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87968" y="4700016"/>
            <a:ext cx="22402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00" b="1">
                <a:solidFill>
                  <a:srgbClr val="43D38B"/>
                </a:solidFill>
                <a:latin typeface="Aptos"/>
              </a:rPr>
              <a:t>STATUS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5779008"/>
            <a:ext cx="3456432" cy="603504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" y="5925312"/>
            <a:ext cx="320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900" b="1">
                <a:solidFill>
                  <a:srgbClr val="43D3FF"/>
                </a:solidFill>
                <a:latin typeface="Apto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879592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00" b="1">
                <a:solidFill>
                  <a:srgbClr val="FAFCFF"/>
                </a:solidFill>
                <a:latin typeface="Aptos"/>
              </a:rPr>
              <a:t>OOP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56232" y="5861304"/>
            <a:ext cx="19933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50" b="0">
                <a:solidFill>
                  <a:srgbClr val="E1E7F2"/>
                </a:solidFill>
                <a:latin typeface="Aptos"/>
              </a:rPr>
              <a:t>Objects model products, carts &amp; orders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70831" y="5779008"/>
            <a:ext cx="3456432" cy="603504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35423" y="5925312"/>
            <a:ext cx="320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900" b="1">
                <a:solidFill>
                  <a:srgbClr val="F7BE46"/>
                </a:solidFill>
                <a:latin typeface="Aptos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5879592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00" b="1">
                <a:solidFill>
                  <a:srgbClr val="FAFCFF"/>
                </a:solidFill>
                <a:latin typeface="Aptos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5271" y="5861304"/>
            <a:ext cx="19933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50" b="0">
                <a:solidFill>
                  <a:srgbClr val="E1E7F2"/>
                </a:solidFill>
                <a:latin typeface="Aptos"/>
              </a:rPr>
              <a:t>Quantities and totals are managed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19871" y="5779008"/>
            <a:ext cx="3456432" cy="603504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84463" y="5925312"/>
            <a:ext cx="3200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900" b="1">
                <a:solidFill>
                  <a:srgbClr val="43D38B"/>
                </a:solidFill>
                <a:latin typeface="Aptos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799" y="5879592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00" b="1">
                <a:solidFill>
                  <a:srgbClr val="FAFCFF"/>
                </a:solidFill>
                <a:latin typeface="Aptos"/>
              </a:rPr>
              <a:t>FLOW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4311" y="5861304"/>
            <a:ext cx="1993392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850" b="0">
                <a:solidFill>
                  <a:srgbClr val="E1E7F2"/>
                </a:solidFill>
                <a:latin typeface="Aptos"/>
              </a:rPr>
              <a:t>Order status changes step-by-step</a:t>
            </a:r>
          </a:p>
        </p:txBody>
      </p:sp>
      <p:pic>
        <p:nvPicPr>
          <p:cNvPr id="60" name="Picture 59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0" y="54865"/>
            <a:ext cx="1325880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57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14630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22402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" y="301752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" y="379476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" y="45720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53492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" y="61264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256032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900" b="1">
                <a:solidFill>
                  <a:srgbClr val="B4BED0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0058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endParaRPr sz="1100" b="1" dirty="0">
              <a:solidFill>
                <a:srgbClr val="FF526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3504" y="1371600"/>
            <a:ext cx="93268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Course concepts brought into the project.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874519"/>
            <a:ext cx="91440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0">
                <a:solidFill>
                  <a:srgbClr val="B4BED0"/>
                </a:solidFill>
                <a:latin typeface="Aptos"/>
              </a:rPr>
              <a:t>The project connects problem-solving, Java programming and structured data handling.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2423160"/>
            <a:ext cx="3456429" cy="3346703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7824" y="2697480"/>
            <a:ext cx="640080" cy="640080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824" y="2889504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200" b="1">
                <a:solidFill>
                  <a:srgbClr val="070B17"/>
                </a:solidFill>
                <a:latin typeface="Aptos"/>
              </a:rPr>
              <a:t>M1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784" y="2724912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 sz="900" b="1">
                <a:solidFill>
                  <a:srgbClr val="EBEEF5"/>
                </a:solidFill>
              </a:defRPr>
            </a:pPr>
            <a:r>
              <a:t>FROM PROBLEM TO PROGRAM</a:t>
            </a:r>
          </a:p>
        </p:txBody>
      </p:sp>
      <p:sp>
        <p:nvSpPr>
          <p:cNvPr id="37" name="Oval 36"/>
          <p:cNvSpPr/>
          <p:nvPr/>
        </p:nvSpPr>
        <p:spPr>
          <a:xfrm>
            <a:off x="932688" y="3666744"/>
            <a:ext cx="109728" cy="109728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8719" y="3154680"/>
            <a:ext cx="2615179" cy="2331720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Introduction to problem solving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Problem solving using algorithm &amp; flowchart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Java environment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Structure of java program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Primitive data types, variables, constants, identifiers, literals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Operators: arithmetic, relational, logical, assignment, ternary, unary, special, bitwise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Typecasting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Expression evaluation: precedence, Associativity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Console I/O: formatted printing, Reading typed input with Scanners</a:t>
            </a:r>
          </a:p>
        </p:txBody>
      </p:sp>
      <p:sp>
        <p:nvSpPr>
          <p:cNvPr id="39" name="Oval 38"/>
          <p:cNvSpPr/>
          <p:nvPr/>
        </p:nvSpPr>
        <p:spPr>
          <a:xfrm>
            <a:off x="932688" y="4233672"/>
            <a:ext cx="109728" cy="109728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178808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932688" y="4800600"/>
            <a:ext cx="109728" cy="109728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4745736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77824" y="5285232"/>
            <a:ext cx="2926080" cy="31089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5769863"/>
            <a:ext cx="292608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>
              <a:defRPr sz="650" b="1">
                <a:solidFill>
                  <a:srgbClr val="E1E4EB"/>
                </a:solidFill>
              </a:defRPr>
            </a:pPr>
            <a:r>
              <a:t>SYLLABUS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2423160"/>
            <a:ext cx="3364993" cy="3346703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14479" y="2740163"/>
            <a:ext cx="640080" cy="6400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14479" y="2901425"/>
            <a:ext cx="640080" cy="28019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200" b="1" dirty="0">
                <a:solidFill>
                  <a:srgbClr val="070B17"/>
                </a:solidFill>
                <a:latin typeface="Aptos"/>
              </a:rPr>
              <a:t>M2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4688" y="2724912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 sz="1000" b="1">
                <a:solidFill>
                  <a:srgbClr val="EBEEF5"/>
                </a:solidFill>
              </a:defRPr>
            </a:pPr>
            <a:r>
              <a:t>CONTROL FLOW</a:t>
            </a:r>
          </a:p>
        </p:txBody>
      </p:sp>
      <p:sp>
        <p:nvSpPr>
          <p:cNvPr id="49" name="Oval 48"/>
          <p:cNvSpPr/>
          <p:nvPr/>
        </p:nvSpPr>
        <p:spPr>
          <a:xfrm>
            <a:off x="4736592" y="3666744"/>
            <a:ext cx="109728" cy="109728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82893" y="3090671"/>
            <a:ext cx="2505459" cy="2029969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Selection &amp; Iteration Control flow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Conditional Statements: if, if-else, Nested-if, if-else-if ladder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Switch: default, break, compound statements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Loops: while, do-while, for, continue, infinite loops, nested loops</a:t>
            </a:r>
          </a:p>
        </p:txBody>
      </p:sp>
      <p:sp>
        <p:nvSpPr>
          <p:cNvPr id="51" name="Oval 50"/>
          <p:cNvSpPr/>
          <p:nvPr/>
        </p:nvSpPr>
        <p:spPr>
          <a:xfrm>
            <a:off x="4736592" y="4233672"/>
            <a:ext cx="109728" cy="109728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92624" y="4178808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36592" y="4800600"/>
            <a:ext cx="109728" cy="109728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92624" y="4745736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681728" y="5285232"/>
            <a:ext cx="2926080" cy="31089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37" y="5694426"/>
            <a:ext cx="292608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>
              <a:defRPr sz="650" b="1">
                <a:solidFill>
                  <a:srgbClr val="E1E4EB"/>
                </a:solidFill>
              </a:defRPr>
            </a:pPr>
            <a:r>
              <a:rPr dirty="0"/>
              <a:t>SYLLABUS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2423160"/>
            <a:ext cx="3493008" cy="3401568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485632" y="2697480"/>
            <a:ext cx="640080" cy="640080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85632" y="2889504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200" b="1">
                <a:solidFill>
                  <a:srgbClr val="070B17"/>
                </a:solidFill>
                <a:latin typeface="Aptos"/>
              </a:rPr>
              <a:t>M3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08592" y="2724912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 sz="819" b="1">
                <a:solidFill>
                  <a:srgbClr val="EBEEF5"/>
                </a:solidFill>
              </a:defRPr>
            </a:pPr>
            <a:r>
              <a:rPr sz="900" dirty="0"/>
              <a:t>DECOMPOSITION WITH METHODS,</a:t>
            </a:r>
            <a:br>
              <a:rPr sz="900" dirty="0"/>
            </a:br>
            <a:r>
              <a:rPr sz="900" dirty="0"/>
              <a:t>RECURSION &amp; ARRAYS</a:t>
            </a:r>
          </a:p>
        </p:txBody>
      </p:sp>
      <p:sp>
        <p:nvSpPr>
          <p:cNvPr id="61" name="Oval 60"/>
          <p:cNvSpPr/>
          <p:nvPr/>
        </p:nvSpPr>
        <p:spPr>
          <a:xfrm>
            <a:off x="8540496" y="3666744"/>
            <a:ext cx="109728" cy="109728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91961" y="3072384"/>
            <a:ext cx="2926075" cy="3035809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200" dirty="0"/>
              <a:t>• </a:t>
            </a:r>
            <a:r>
              <a:rPr sz="1400" dirty="0"/>
              <a:t>Modular programming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Methods: definition, invocation, Parameter passing, return values, Method overloading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Enhanced for each loop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Recursion: base case and recursive case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1D-array: traversal, searching, summation, average, counting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2D-array: matrix's arithmetic</a:t>
            </a:r>
          </a:p>
        </p:txBody>
      </p:sp>
      <p:sp>
        <p:nvSpPr>
          <p:cNvPr id="63" name="Oval 62"/>
          <p:cNvSpPr/>
          <p:nvPr/>
        </p:nvSpPr>
        <p:spPr>
          <a:xfrm>
            <a:off x="8540496" y="4233672"/>
            <a:ext cx="109728" cy="109728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96528" y="4178808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65" name="Oval 64"/>
          <p:cNvSpPr/>
          <p:nvPr/>
        </p:nvSpPr>
        <p:spPr>
          <a:xfrm>
            <a:off x="8540496" y="4800600"/>
            <a:ext cx="109728" cy="109728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96528" y="4745736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485632" y="5285232"/>
            <a:ext cx="2926080" cy="31089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40496" y="5789528"/>
            <a:ext cx="292608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>
              <a:defRPr sz="650" b="1">
                <a:solidFill>
                  <a:srgbClr val="E1E4EB"/>
                </a:solidFill>
              </a:defRPr>
            </a:pPr>
            <a:r>
              <a:rPr dirty="0"/>
              <a:t>SYLLABUS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48840" y="6144768"/>
            <a:ext cx="7863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M1 → PLAN   •   M2 → IMPLEMENT   •   M3 → ORGANIZE</a:t>
            </a:r>
          </a:p>
        </p:txBody>
      </p:sp>
      <p:pic>
        <p:nvPicPr>
          <p:cNvPr id="70" name="Picture 69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636" y="73152"/>
            <a:ext cx="1325880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57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14630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22402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" y="301752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" y="379476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" y="45720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53492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" y="61264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256032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900" b="1">
                <a:solidFill>
                  <a:srgbClr val="B4BED0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6300" y="672084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25000" lnSpcReduction="20000"/>
          </a:bodyPr>
          <a:lstStyle/>
          <a:p>
            <a:pPr algn="l"/>
            <a:r>
              <a:rPr lang="en-IN" sz="1100" b="1" dirty="0">
                <a:solidFill>
                  <a:srgbClr val="FF5260"/>
                </a:solidFill>
                <a:latin typeface="Aptos"/>
              </a:rPr>
              <a:t>                                                                </a:t>
            </a:r>
            <a:r>
              <a:rPr sz="12800" b="1" dirty="0">
                <a:solidFill>
                  <a:srgbClr val="FF5260"/>
                </a:solidFill>
                <a:latin typeface="Aptos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1389888"/>
            <a:ext cx="7955279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3100" b="1">
                <a:solidFill>
                  <a:srgbClr val="FAFCFF"/>
                </a:solidFill>
                <a:latin typeface="Aptos"/>
              </a:rPr>
              <a:t>Simple idea. Complete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938528"/>
            <a:ext cx="87782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0">
                <a:solidFill>
                  <a:srgbClr val="B4BED0"/>
                </a:solidFill>
                <a:latin typeface="Aptos"/>
              </a:rPr>
              <a:t>The project demonstrates how familiar Java concepts can be combined into a practical e-commerce flow.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" y="2596896"/>
            <a:ext cx="256032" cy="256032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2642615"/>
            <a:ext cx="2560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00" b="1">
                <a:solidFill>
                  <a:srgbClr val="070B17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7" y="2578607"/>
            <a:ext cx="63093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FAFCFF"/>
                </a:solidFill>
                <a:latin typeface="Aptos"/>
              </a:rPr>
              <a:t>Models a realistic online-shopping workflow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" y="3163824"/>
            <a:ext cx="256032" cy="256032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3209544"/>
            <a:ext cx="2560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00" b="1">
                <a:solidFill>
                  <a:srgbClr val="070B17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145536"/>
            <a:ext cx="63093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FAFCFF"/>
                </a:solidFill>
                <a:latin typeface="Aptos"/>
              </a:rPr>
              <a:t>Manages products, cart quantities and total price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" y="3730751"/>
            <a:ext cx="256032" cy="256032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3776472"/>
            <a:ext cx="2560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00" b="1">
                <a:solidFill>
                  <a:srgbClr val="070B17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3712463"/>
            <a:ext cx="63093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FAFCFF"/>
                </a:solidFill>
                <a:latin typeface="Aptos"/>
              </a:rPr>
              <a:t>Tracks an order from placement to delivery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" y="4297679"/>
            <a:ext cx="256032" cy="256032"/>
          </a:xfrm>
          <a:prstGeom prst="ellipse">
            <a:avLst/>
          </a:prstGeom>
          <a:solidFill>
            <a:srgbClr val="43D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4343400"/>
            <a:ext cx="256032" cy="1188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00" b="1">
                <a:solidFill>
                  <a:srgbClr val="070B17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" y="4297679"/>
            <a:ext cx="63093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b="0" dirty="0">
                <a:solidFill>
                  <a:srgbClr val="FAFCFF"/>
                </a:solidFill>
                <a:latin typeface="Aptos"/>
              </a:rPr>
              <a:t>Connects selected M1–M6 concepts in one integrated project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2468880"/>
            <a:ext cx="4069080" cy="2697480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0" y="2743200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000" b="1">
                <a:solidFill>
                  <a:srgbClr val="FF5260"/>
                </a:solidFill>
                <a:latin typeface="Aptos"/>
              </a:rPr>
              <a:t>END-TO-END FLOW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54112" y="3246120"/>
            <a:ext cx="987552" cy="438912"/>
          </a:xfrm>
          <a:prstGeom prst="roundRect">
            <a:avLst/>
          </a:prstGeom>
          <a:solidFill>
            <a:srgbClr val="070B17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54112" y="3364991"/>
            <a:ext cx="987552" cy="155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780" b="1">
                <a:solidFill>
                  <a:srgbClr val="43D3FF"/>
                </a:solidFill>
                <a:latin typeface="Aptos"/>
              </a:rPr>
              <a:t>BROWSE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97112" y="3246120"/>
            <a:ext cx="987552" cy="438912"/>
          </a:xfrm>
          <a:prstGeom prst="roundRect">
            <a:avLst/>
          </a:prstGeom>
          <a:solidFill>
            <a:srgbClr val="070B17"/>
          </a:solidFill>
          <a:ln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97112" y="3364991"/>
            <a:ext cx="987552" cy="155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780" b="1">
                <a:solidFill>
                  <a:srgbClr val="F7BE46"/>
                </a:solidFill>
                <a:latin typeface="Aptos"/>
              </a:rPr>
              <a:t>CART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40112" y="3246120"/>
            <a:ext cx="987552" cy="438912"/>
          </a:xfrm>
          <a:prstGeom prst="roundRect">
            <a:avLst/>
          </a:prstGeom>
          <a:solidFill>
            <a:srgbClr val="070B17"/>
          </a:solidFill>
          <a:ln>
            <a:solidFill>
              <a:srgbClr val="FF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40112" y="3364991"/>
            <a:ext cx="987552" cy="155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780" b="1">
                <a:solidFill>
                  <a:srgbClr val="FF5260"/>
                </a:solidFill>
                <a:latin typeface="Aptos"/>
              </a:rPr>
              <a:t>CHECKOUT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54112" y="4087368"/>
            <a:ext cx="987552" cy="438912"/>
          </a:xfrm>
          <a:prstGeom prst="roundRect">
            <a:avLst/>
          </a:prstGeom>
          <a:solidFill>
            <a:srgbClr val="070B17"/>
          </a:solidFill>
          <a:ln>
            <a:solidFill>
              <a:srgbClr val="9B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54112" y="4206240"/>
            <a:ext cx="987552" cy="155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780" b="1">
                <a:solidFill>
                  <a:srgbClr val="9B6FFF"/>
                </a:solidFill>
                <a:latin typeface="Aptos"/>
              </a:rPr>
              <a:t>ORDER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97112" y="4087368"/>
            <a:ext cx="987552" cy="438912"/>
          </a:xfrm>
          <a:prstGeom prst="roundRect">
            <a:avLst/>
          </a:prstGeom>
          <a:solidFill>
            <a:srgbClr val="070B17"/>
          </a:solidFill>
          <a:ln>
            <a:solidFill>
              <a:srgbClr val="43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97112" y="4206240"/>
            <a:ext cx="987552" cy="155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780" b="1">
                <a:solidFill>
                  <a:srgbClr val="43D38B"/>
                </a:solidFill>
                <a:latin typeface="Aptos"/>
              </a:rPr>
              <a:t>DELIVER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6368" y="5440680"/>
            <a:ext cx="3886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2600" b="1">
                <a:solidFill>
                  <a:srgbClr val="F7BE46"/>
                </a:solidFill>
                <a:latin typeface="Aptos"/>
              </a:rPr>
              <a:t>THANK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5989320"/>
            <a:ext cx="4709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 sz="800">
                <a:solidFill>
                  <a:srgbClr val="EBEEF5"/>
                </a:solidFill>
              </a:defRPr>
            </a:pPr>
            <a:r>
              <a:t>2620030239_bhuvana krishna  •  2620030440_koushik  •  Section 2</a:t>
            </a:r>
          </a:p>
        </p:txBody>
      </p:sp>
      <p:pic>
        <p:nvPicPr>
          <p:cNvPr id="59" name="Picture 58" descr="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64008"/>
            <a:ext cx="1325880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71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286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0" y="640080"/>
            <a:ext cx="0" cy="589788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14630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22402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" y="301752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" y="379476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" y="457200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040" y="534924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040" y="6126480"/>
            <a:ext cx="11521440" cy="0"/>
          </a:xfrm>
          <a:prstGeom prst="line">
            <a:avLst/>
          </a:prstGeom>
          <a:ln w="5080">
            <a:solidFill>
              <a:srgbClr val="1F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256032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/>
            <a:r>
              <a:rPr sz="900" b="1">
                <a:solidFill>
                  <a:srgbClr val="B4BED0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1005840"/>
            <a:ext cx="3657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endParaRPr sz="1100" b="1" dirty="0">
              <a:solidFill>
                <a:srgbClr val="FF526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3504" y="1371600"/>
            <a:ext cx="93268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Course concepts used in the project.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1874519"/>
            <a:ext cx="91440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0">
                <a:solidFill>
                  <a:srgbClr val="B4BED0"/>
                </a:solidFill>
                <a:latin typeface="Aptos"/>
              </a:rPr>
              <a:t>The code demonstrates basic methods, strings and collection handling.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2423160"/>
            <a:ext cx="3456429" cy="3346703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7824" y="2697480"/>
            <a:ext cx="640080" cy="640080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824" y="2889504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200" b="1">
                <a:solidFill>
                  <a:srgbClr val="070B17"/>
                </a:solidFill>
                <a:latin typeface="Aptos"/>
              </a:rPr>
              <a:t>M4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784" y="2724912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 sz="900" b="1">
                <a:solidFill>
                  <a:srgbClr val="EBEEF5"/>
                </a:solidFill>
              </a:defRPr>
            </a:pPr>
            <a:r>
              <a:t>OOP &amp; METHODS</a:t>
            </a:r>
          </a:p>
        </p:txBody>
      </p:sp>
      <p:sp>
        <p:nvSpPr>
          <p:cNvPr id="37" name="Oval 36"/>
          <p:cNvSpPr/>
          <p:nvPr/>
        </p:nvSpPr>
        <p:spPr>
          <a:xfrm>
            <a:off x="932688" y="3666744"/>
            <a:ext cx="109728" cy="109728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8719" y="3154680"/>
            <a:ext cx="2615179" cy="2331720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Class: OnlineStore3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Static methods organize product and cart operations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Method calls pass values and collections as parameters</a:t>
            </a:r>
          </a:p>
          <a:p>
            <a:pPr>
              <a:spcAft>
                <a:spcPts val="100"/>
              </a:spcAft>
              <a:defRPr sz="500">
                <a:solidFill>
                  <a:srgbClr val="E1E4EB"/>
                </a:solidFill>
              </a:defRPr>
            </a:pPr>
            <a:r>
              <a:rPr sz="1000" dirty="0"/>
              <a:t>• placeOrder() returns a boolean value</a:t>
            </a:r>
          </a:p>
        </p:txBody>
      </p:sp>
      <p:sp>
        <p:nvSpPr>
          <p:cNvPr id="39" name="Oval 38"/>
          <p:cNvSpPr/>
          <p:nvPr/>
        </p:nvSpPr>
        <p:spPr>
          <a:xfrm>
            <a:off x="932688" y="4233672"/>
            <a:ext cx="109728" cy="109728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178808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932688" y="4800600"/>
            <a:ext cx="109728" cy="109728"/>
          </a:xfrm>
          <a:prstGeom prst="ellipse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4745736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77824" y="5285232"/>
            <a:ext cx="2926080" cy="31089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5769863"/>
            <a:ext cx="292608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>
              <a:defRPr sz="650" b="1">
                <a:solidFill>
                  <a:srgbClr val="E1E4EB"/>
                </a:solidFill>
              </a:defRPr>
            </a:pPr>
            <a:r>
              <a:t>SYLLABUS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2423160"/>
            <a:ext cx="3364993" cy="3346703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14479" y="2740163"/>
            <a:ext cx="640080" cy="6400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14479" y="2901425"/>
            <a:ext cx="640080" cy="28019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200" b="1" dirty="0">
                <a:solidFill>
                  <a:srgbClr val="070B17"/>
                </a:solidFill>
                <a:latin typeface="Aptos"/>
              </a:rPr>
              <a:t>M5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4688" y="2724912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 sz="1000" b="1">
                <a:solidFill>
                  <a:srgbClr val="EBEEF5"/>
                </a:solidFill>
              </a:defRPr>
            </a:pPr>
            <a:r>
              <a:t>STRINGS</a:t>
            </a:r>
          </a:p>
        </p:txBody>
      </p:sp>
      <p:sp>
        <p:nvSpPr>
          <p:cNvPr id="49" name="Oval 48"/>
          <p:cNvSpPr/>
          <p:nvPr/>
        </p:nvSpPr>
        <p:spPr>
          <a:xfrm>
            <a:off x="4736592" y="3666744"/>
            <a:ext cx="109728" cy="109728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82893" y="3090671"/>
            <a:ext cx="2505459" cy="2029969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String values store product names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String text is used in menu messages and output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The + operator joins text and values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File I/O and advanced String methods are not used</a:t>
            </a:r>
          </a:p>
        </p:txBody>
      </p:sp>
      <p:sp>
        <p:nvSpPr>
          <p:cNvPr id="51" name="Oval 50"/>
          <p:cNvSpPr/>
          <p:nvPr/>
        </p:nvSpPr>
        <p:spPr>
          <a:xfrm>
            <a:off x="4736592" y="4233672"/>
            <a:ext cx="109728" cy="109728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92624" y="4178808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36592" y="4800600"/>
            <a:ext cx="109728" cy="109728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92624" y="4745736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681728" y="5285232"/>
            <a:ext cx="2926080" cy="31089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37" y="5694426"/>
            <a:ext cx="292608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>
              <a:defRPr sz="650" b="1">
                <a:solidFill>
                  <a:srgbClr val="E1E4EB"/>
                </a:solidFill>
              </a:defRPr>
            </a:pPr>
            <a:r>
              <a:rPr dirty="0"/>
              <a:t>SYLLABUS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2423160"/>
            <a:ext cx="3493008" cy="3401568"/>
          </a:xfrm>
          <a:prstGeom prst="roundRect">
            <a:avLst/>
          </a:prstGeom>
          <a:solidFill>
            <a:srgbClr val="11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485632" y="2697480"/>
            <a:ext cx="640080" cy="640080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85632" y="2889504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200" b="1">
                <a:solidFill>
                  <a:srgbClr val="070B17"/>
                </a:solidFill>
                <a:latin typeface="Aptos"/>
              </a:rPr>
              <a:t>M6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08592" y="2724912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 sz="819" b="1">
                <a:solidFill>
                  <a:srgbClr val="EBEEF5"/>
                </a:solidFill>
              </a:defRPr>
            </a:pPr>
            <a:r>
              <a:rPr sz="900" dirty="0"/>
              <a:t>COLLECTIONS &amp; STREAMS</a:t>
            </a:r>
            <a:br>
              <a:rPr sz="900" dirty="0"/>
            </a:br>
            <a:r>
              <a:rPr sz="900" dirty="0"/>
              <a:t/>
            </a:r>
          </a:p>
        </p:txBody>
      </p:sp>
      <p:sp>
        <p:nvSpPr>
          <p:cNvPr id="61" name="Oval 60"/>
          <p:cNvSpPr/>
          <p:nvPr/>
        </p:nvSpPr>
        <p:spPr>
          <a:xfrm>
            <a:off x="8540496" y="3666744"/>
            <a:ext cx="109728" cy="109728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91961" y="3072384"/>
            <a:ext cx="2926075" cy="3035809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200" dirty="0"/>
              <a:t>• ArrayList&lt;String&gt;, ArrayList&lt;Double&gt; and ArrayList&lt;Integer&gt;</a:t>
            </a:r>
            <a:r>
              <a:rPr sz="1400" dirty="0"/>
              <a:t/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add(), get() and set() manage collection elements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for loops iterate through products and cart items</a:t>
            </a:r>
          </a:p>
          <a:p>
            <a:pPr>
              <a:spcAft>
                <a:spcPts val="100"/>
              </a:spcAft>
              <a:defRPr sz="540">
                <a:solidFill>
                  <a:srgbClr val="E1E4EB"/>
                </a:solidFill>
              </a:defRPr>
            </a:pPr>
            <a:r>
              <a:rPr sz="1400" dirty="0"/>
              <a:t>• Streams, lambdas, HashMap and HashSet are not used</a:t>
            </a:r>
          </a:p>
        </p:txBody>
      </p:sp>
      <p:sp>
        <p:nvSpPr>
          <p:cNvPr id="63" name="Oval 62"/>
          <p:cNvSpPr/>
          <p:nvPr/>
        </p:nvSpPr>
        <p:spPr>
          <a:xfrm>
            <a:off x="8540496" y="4233672"/>
            <a:ext cx="109728" cy="109728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96528" y="4178808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65" name="Oval 64"/>
          <p:cNvSpPr/>
          <p:nvPr/>
        </p:nvSpPr>
        <p:spPr>
          <a:xfrm>
            <a:off x="8540496" y="4800600"/>
            <a:ext cx="109728" cy="109728"/>
          </a:xfrm>
          <a:prstGeom prst="ellipse">
            <a:avLst/>
          </a:prstGeom>
          <a:solidFill>
            <a:srgbClr val="FF5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96528" y="4745736"/>
            <a:ext cx="25146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485632" y="5285232"/>
            <a:ext cx="2926080" cy="310896"/>
          </a:xfrm>
          <a:prstGeom prst="roundRect">
            <a:avLst/>
          </a:prstGeom>
          <a:solidFill>
            <a:srgbClr val="070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40496" y="5789528"/>
            <a:ext cx="2926080" cy="1280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>
              <a:defRPr sz="650" b="1">
                <a:solidFill>
                  <a:srgbClr val="E1E4EB"/>
                </a:solidFill>
              </a:defRPr>
            </a:pPr>
            <a:r>
              <a:rPr dirty="0"/>
              <a:t>SYLLABUS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48840" y="6144768"/>
            <a:ext cx="7863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M4 → METHODS   •   M5 → STRINGS   •   M6 → ARRAYLIST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636" y="73152"/>
            <a:ext cx="1325880" cy="557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515</Words>
  <Application>Microsoft Office PowerPoint</Application>
  <PresentationFormat>Widescreen</PresentationFormat>
  <Paragraphs>115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Sai Bhuvana Krishna Chanda</cp:lastModifiedBy>
  <cp:revision>6</cp:revision>
  <dcterms:created xsi:type="dcterms:W3CDTF">2013-01-27T09:14:16Z</dcterms:created>
  <dcterms:modified xsi:type="dcterms:W3CDTF">2026-09-22T08:21:37Z</dcterms:modified>
  <cp:category/>
</cp:coreProperties>
</file>